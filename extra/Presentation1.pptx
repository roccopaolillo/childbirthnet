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45" d="100"/>
          <a:sy n="45" d="100"/>
        </p:scale>
        <p:origin x="2808" y="264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16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1965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666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80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839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428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01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733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815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750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294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30022-66EA-4158-A03A-BF3EA10B51B9}" type="datetimeFigureOut">
              <a:rPr lang="it-IT" smtClean="0"/>
              <a:t>16/10/2025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27695-655C-4DAD-8EE6-CA8D6EE2BE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63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339EF5-B27E-B4E3-1E76-5DE17F362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4" t="6502" r="7620" b="4062"/>
          <a:stretch>
            <a:fillRect/>
          </a:stretch>
        </p:blipFill>
        <p:spPr>
          <a:xfrm>
            <a:off x="164118" y="154258"/>
            <a:ext cx="3264882" cy="3390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A19EC-EE48-F1D1-4980-591036CFBC43}"/>
              </a:ext>
            </a:extLst>
          </p:cNvPr>
          <p:cNvSpPr txBox="1"/>
          <p:nvPr/>
        </p:nvSpPr>
        <p:spPr>
          <a:xfrm>
            <a:off x="305936" y="3672196"/>
            <a:ext cx="3123064" cy="275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675"/>
              </a:lnSpc>
            </a:pPr>
            <a:r>
              <a:rPr lang="en-US" sz="800" dirty="0">
                <a:solidFill>
                  <a:srgbClr val="000000"/>
                </a:solidFill>
                <a:latin typeface="Lucida Console" panose="020B0609040504020204" pitchFamily="49" charset="0"/>
              </a:rPr>
              <a:t> Min. 1st Qu.  Median  Mean   3rd Qu. Max. </a:t>
            </a:r>
          </a:p>
          <a:p>
            <a:pPr latinLnBrk="1">
              <a:lnSpc>
                <a:spcPts val="675"/>
              </a:lnSpc>
            </a:pPr>
            <a:r>
              <a:rPr lang="en-US" sz="800" dirty="0">
                <a:solidFill>
                  <a:srgbClr val="000000"/>
                </a:solidFill>
                <a:latin typeface="Lucida Console" panose="020B0609040504020204" pitchFamily="49" charset="0"/>
              </a:rPr>
              <a:t> 0.00  58.00   86.00   89.18  117.00  260.00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21C24-0F0B-FB6F-8D58-EA491CDF77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60" t="6322" r="7267" b="4604"/>
          <a:stretch>
            <a:fillRect/>
          </a:stretch>
        </p:blipFill>
        <p:spPr>
          <a:xfrm>
            <a:off x="3542781" y="120196"/>
            <a:ext cx="3151101" cy="32176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454866-113A-DD0F-834C-972216C3CC32}"/>
              </a:ext>
            </a:extLst>
          </p:cNvPr>
          <p:cNvSpPr txBox="1"/>
          <p:nvPr/>
        </p:nvSpPr>
        <p:spPr>
          <a:xfrm>
            <a:off x="3542781" y="3655529"/>
            <a:ext cx="3151101" cy="27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675"/>
              </a:lnSpc>
            </a:pPr>
            <a:r>
              <a:rPr lang="en-US" sz="800" dirty="0">
                <a:solidFill>
                  <a:srgbClr val="000000"/>
                </a:solidFill>
                <a:latin typeface="Lucida Console" panose="020B0609040504020204" pitchFamily="49" charset="0"/>
              </a:rPr>
              <a:t>Min.    1st Qu. Median  Mean    3rd Qu. Max. </a:t>
            </a:r>
          </a:p>
          <a:p>
            <a:pPr latinLnBrk="1">
              <a:lnSpc>
                <a:spcPts val="675"/>
              </a:lnSpc>
            </a:pPr>
            <a:r>
              <a:rPr lang="en-US" sz="800" dirty="0">
                <a:solidFill>
                  <a:srgbClr val="000000"/>
                </a:solidFill>
                <a:latin typeface="Lucida Console" panose="020B0609040504020204" pitchFamily="49" charset="0"/>
              </a:rPr>
              <a:t>0.0000  0.2231  0.3308  0.3430  0.4500  1.0000 </a:t>
            </a:r>
            <a:endParaRPr lang="it-IT" sz="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3166F8-7158-18EB-DF2A-406CF69D0B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87" t="7854" r="7619" b="5473"/>
          <a:stretch>
            <a:fillRect/>
          </a:stretch>
        </p:blipFill>
        <p:spPr>
          <a:xfrm>
            <a:off x="164117" y="4174368"/>
            <a:ext cx="3264881" cy="25019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2C0D6C-0652-7123-935A-9161FEABBD0D}"/>
              </a:ext>
            </a:extLst>
          </p:cNvPr>
          <p:cNvSpPr txBox="1"/>
          <p:nvPr/>
        </p:nvSpPr>
        <p:spPr>
          <a:xfrm>
            <a:off x="164116" y="6676298"/>
            <a:ext cx="3264882" cy="39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200"/>
              </a:lnSpc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Min. 1st Qu.  Median    Mean 3rd Qu.    Max. 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0.00000 0.04976 0.10941 0.14401 0.20250 1.00000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715F5A-CF26-04EF-B67E-27D3E53451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69" t="8940" r="7705" b="5850"/>
          <a:stretch>
            <a:fillRect/>
          </a:stretch>
        </p:blipFill>
        <p:spPr>
          <a:xfrm>
            <a:off x="3457330" y="4212411"/>
            <a:ext cx="3236552" cy="2425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6C13F04-DC63-EB77-01E4-7E9A9B686633}"/>
              </a:ext>
            </a:extLst>
          </p:cNvPr>
          <p:cNvSpPr txBox="1"/>
          <p:nvPr/>
        </p:nvSpPr>
        <p:spPr>
          <a:xfrm>
            <a:off x="3403831" y="6638254"/>
            <a:ext cx="3429000" cy="39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200"/>
              </a:lnSpc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Min.   1st Qu. Median  Mean   3rd Qu. Max. 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0.000  2.231   3.308   3.430  4.500  10.000 </a:t>
            </a:r>
          </a:p>
        </p:txBody>
      </p:sp>
    </p:spTree>
    <p:extLst>
      <p:ext uri="{BB962C8B-B14F-4D97-AF65-F5344CB8AC3E}">
        <p14:creationId xmlns:p14="http://schemas.microsoft.com/office/powerpoint/2010/main" val="312898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178880-6101-7BEE-1210-8E48DACBA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625962"/>
            <a:ext cx="2744257" cy="2761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BCED48-DE74-A682-0B86-32169FB52F1C}"/>
              </a:ext>
            </a:extLst>
          </p:cNvPr>
          <p:cNvSpPr txBox="1"/>
          <p:nvPr/>
        </p:nvSpPr>
        <p:spPr>
          <a:xfrm>
            <a:off x="2862790" y="1791531"/>
            <a:ext cx="3656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900" dirty="0"/>
              <a:t>1407 [COMPLESSO OSPEDALIERO CAREGGI - CTO (FI) MISERICORDIA GROSSETO NUOVO OSPEDALE BORGO S.LORENZO (FI) RIUNITI LIVORNO S.GIOVANNI DI DIO-TORREGALLI (FI)]</a:t>
            </a:r>
          </a:p>
          <a:p>
            <a:r>
              <a:rPr lang="it-IT" sz="900" dirty="0"/>
              <a:t>743 [RIUNITI LIVORNO NUOVO OSPEDALE DI PRATO S.STEFANO OSPEDALE SAN JACOPO OSPEDALE S. GIUSEPPE SERRISTORI FIGLINE V.A. (FI)]</a:t>
            </a:r>
          </a:p>
          <a:p>
            <a:r>
              <a:rPr lang="it-IT" sz="900" dirty="0"/>
              <a:t>1166 [OSPEDALE DEL VALDARNO - "S.MARIA DELLA GRUCCIA" COMPLESSO OSPEDALIERO CAREGGI - CTO (FI) OSP. RIUNITI DELLA VAL DI CHIANA MISERICORDIA GROSSETO CIVILE ELBANO PORTOFERRAIO (LI)]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D4F68-92A0-E16D-38A8-AD7BCC7812D3}"/>
              </a:ext>
            </a:extLst>
          </p:cNvPr>
          <p:cNvSpPr txBox="1"/>
          <p:nvPr/>
        </p:nvSpPr>
        <p:spPr>
          <a:xfrm>
            <a:off x="1490661" y="138064"/>
            <a:ext cx="4325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Test ranking of hospital based on distance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660DB-0F96-9B01-D423-890B411883FD}"/>
              </a:ext>
            </a:extLst>
          </p:cNvPr>
          <p:cNvSpPr txBox="1"/>
          <p:nvPr/>
        </p:nvSpPr>
        <p:spPr>
          <a:xfrm>
            <a:off x="2862790" y="885581"/>
            <a:ext cx="348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let </a:t>
            </a:r>
            <a:r>
              <a:rPr lang="en-US" sz="1200" dirty="0" err="1"/>
              <a:t>knownhosp</a:t>
            </a:r>
            <a:r>
              <a:rPr lang="en-US" sz="1200" dirty="0"/>
              <a:t> </a:t>
            </a:r>
            <a:r>
              <a:rPr lang="en-US" sz="1200" dirty="0" err="1"/>
              <a:t>rnd:weighted-n-of-list</a:t>
            </a:r>
            <a:r>
              <a:rPr lang="en-US" sz="1200" dirty="0"/>
              <a:t> 5 </a:t>
            </a:r>
            <a:r>
              <a:rPr lang="en-US" sz="1200" dirty="0" err="1"/>
              <a:t>listhospitals</a:t>
            </a:r>
            <a:r>
              <a:rPr lang="en-US" sz="1200" dirty="0"/>
              <a:t>  [h -&gt; (exp(10 * (1 - </a:t>
            </a:r>
            <a:r>
              <a:rPr lang="en-US" sz="1200" dirty="0" err="1"/>
              <a:t>dist</a:t>
            </a:r>
            <a:r>
              <a:rPr lang="en-US" sz="1200" dirty="0"/>
              <a:t> self one-of hospital with [id = h] </a:t>
            </a:r>
            <a:r>
              <a:rPr lang="en-US" sz="1200" dirty="0" err="1"/>
              <a:t>distservicesnorm</a:t>
            </a:r>
            <a:r>
              <a:rPr lang="en-US" sz="1200" dirty="0"/>
              <a:t>)))]</a:t>
            </a:r>
            <a:endParaRPr lang="it-IT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23DC1-2F73-01EC-EFCC-44A2B1816D81}"/>
              </a:ext>
            </a:extLst>
          </p:cNvPr>
          <p:cNvSpPr txBox="1"/>
          <p:nvPr/>
        </p:nvSpPr>
        <p:spPr>
          <a:xfrm>
            <a:off x="2737377" y="4285994"/>
            <a:ext cx="3979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let </a:t>
            </a:r>
            <a:r>
              <a:rPr lang="en-US" sz="1200" dirty="0" err="1"/>
              <a:t>knownhosp</a:t>
            </a:r>
            <a:r>
              <a:rPr lang="en-US" sz="1200" dirty="0"/>
              <a:t> </a:t>
            </a:r>
            <a:r>
              <a:rPr lang="en-US" sz="1200" dirty="0" err="1"/>
              <a:t>rnd:weighted-n-of-list</a:t>
            </a:r>
            <a:r>
              <a:rPr lang="en-US" sz="1200" dirty="0"/>
              <a:t> 5 </a:t>
            </a:r>
            <a:r>
              <a:rPr lang="en-US" sz="1200" dirty="0" err="1"/>
              <a:t>listhospitals</a:t>
            </a:r>
            <a:r>
              <a:rPr lang="en-US" sz="1200" dirty="0"/>
              <a:t>  [h -&gt; ( exp(10 * ([</a:t>
            </a:r>
            <a:r>
              <a:rPr lang="en-US" sz="1200" dirty="0" err="1"/>
              <a:t>ownranking</a:t>
            </a:r>
            <a:r>
              <a:rPr lang="en-US" sz="1200" dirty="0"/>
              <a:t>] of one-of hospital with [id = h])) +  exp(10 * (1 - </a:t>
            </a:r>
            <a:r>
              <a:rPr lang="en-US" sz="1200" dirty="0" err="1"/>
              <a:t>dist</a:t>
            </a:r>
            <a:r>
              <a:rPr lang="en-US" sz="1200" dirty="0"/>
              <a:t> self one-of hospital with [id = h] </a:t>
            </a:r>
            <a:r>
              <a:rPr lang="en-US" sz="1200" dirty="0" err="1"/>
              <a:t>distservicesnorm</a:t>
            </a:r>
            <a:r>
              <a:rPr lang="en-US" sz="1200" dirty="0"/>
              <a:t>)))]</a:t>
            </a:r>
            <a:endParaRPr lang="it-IT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B75656-BAB7-DFA2-9EAC-6410C4ED0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1" y="3706910"/>
            <a:ext cx="2698375" cy="27027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FA0B82E-DDA9-E096-4FDB-0233AAFCD489}"/>
              </a:ext>
            </a:extLst>
          </p:cNvPr>
          <p:cNvSpPr txBox="1"/>
          <p:nvPr/>
        </p:nvSpPr>
        <p:spPr>
          <a:xfrm>
            <a:off x="2862790" y="5481178"/>
            <a:ext cx="342900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/>
              <a:t>959 [COMPLESSO OSPEDALIERO CAREGGI - CTO (FI) OSP. RIUNITI DELLA VAL DI CHIANA OSPEDALI PISANI (PI) S.GIOVANNI DI DIO-TORREGALLI (FI) CIVILE CECINA (LI)]</a:t>
            </a:r>
          </a:p>
          <a:p>
            <a:r>
              <a:rPr lang="it-IT" sz="1100" dirty="0"/>
              <a:t>186 [AREA ARETINA NORD AREZZO COMPLESSO OSPEDALIERO CAREGGI - CTO (FI) OSPEDALI PISANI (PI) NUOVO OSPEDALE DI PRATO S.STEFANO OSPEDALE SAN JACOPO]</a:t>
            </a:r>
          </a:p>
          <a:p>
            <a:r>
              <a:rPr lang="it-IT" sz="1100" dirty="0"/>
              <a:t>502 [COMPLESSO OSPEDALIERO CAREGGI - CTO (FI) NUOVO OSPEDALE BORGO S.LORENZO (FI) S.GIOVANNI DI DIO-TORREGALLI (FI) NUOVO OSPEDALE DI PRATO S.STEFANO OSPEDALE SAN LUCA]</a:t>
            </a:r>
          </a:p>
        </p:txBody>
      </p:sp>
    </p:spTree>
    <p:extLst>
      <p:ext uri="{BB962C8B-B14F-4D97-AF65-F5344CB8AC3E}">
        <p14:creationId xmlns:p14="http://schemas.microsoft.com/office/powerpoint/2010/main" val="1668580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357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Lucida Console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Rocco Paolillo</dc:creator>
  <cp:lastModifiedBy>Rocco Paolillo</cp:lastModifiedBy>
  <cp:revision>5</cp:revision>
  <dcterms:created xsi:type="dcterms:W3CDTF">2025-10-15T12:43:21Z</dcterms:created>
  <dcterms:modified xsi:type="dcterms:W3CDTF">2025-10-16T21:48:01Z</dcterms:modified>
</cp:coreProperties>
</file>